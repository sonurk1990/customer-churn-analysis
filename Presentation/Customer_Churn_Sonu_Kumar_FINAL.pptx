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Churn Distribution (26.5% churn rate)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Churned</c:v>
                  </c:pt>
                  <c:pt idx="1">
                    <c:v>Churned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Churn %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11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Model Performance Comparison (%) — Actual Results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79.91</c:v>
                </c:pt>
                <c:pt idx="1">
                  <c:v>78.42</c:v>
                </c:pt>
                <c:pt idx="2">
                  <c:v>79.21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64.26</c:v>
                </c:pt>
                <c:pt idx="1">
                  <c:v>60.36</c:v>
                </c:pt>
                <c:pt idx="2">
                  <c:v>63.73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54.81</c:v>
                </c:pt>
                <c:pt idx="1">
                  <c:v>54.55</c:v>
                </c:pt>
                <c:pt idx="2">
                  <c:v>50.27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59.16</c:v>
                </c:pt>
                <c:pt idx="1">
                  <c:v>57.3</c:v>
                </c:pt>
                <c:pt idx="2">
                  <c:v>56.2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Random Forest — Feature Importance Scores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TotalCharges</c:v>
                  </c:pt>
                  <c:pt idx="1">
                    <c:v>MonthlyCharges</c:v>
                  </c:pt>
                  <c:pt idx="2">
                    <c:v>tenure</c:v>
                  </c:pt>
                  <c:pt idx="3">
                    <c:v>Contract</c:v>
                  </c:pt>
                  <c:pt idx="4">
                    <c:v>PaymentMethod</c:v>
                  </c:pt>
                  <c:pt idx="5">
                    <c:v>OnlineSecurity</c:v>
                  </c:pt>
                  <c:pt idx="6">
                    <c:v>TechSupport</c:v>
                  </c:pt>
                  <c:pt idx="7">
                    <c:v>gender</c:v>
                  </c:pt>
                  <c:pt idx="8">
                    <c:v>InternetService</c:v>
                  </c:pt>
                  <c:pt idx="9">
                    <c:v>OnlineBackup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0.187</c:v>
                </c:pt>
                <c:pt idx="1">
                  <c:v>0.179</c:v>
                </c:pt>
                <c:pt idx="2">
                  <c:v>0.154</c:v>
                </c:pt>
                <c:pt idx="3">
                  <c:v>0.08</c:v>
                </c:pt>
                <c:pt idx="4">
                  <c:v>0.05</c:v>
                </c:pt>
                <c:pt idx="5">
                  <c:v>0.05</c:v>
                </c:pt>
                <c:pt idx="6">
                  <c:v>0.044</c:v>
                </c:pt>
                <c:pt idx="7">
                  <c:v>0.028</c:v>
                </c:pt>
                <c:pt idx="8">
                  <c:v>0.028</c:v>
                </c:pt>
                <c:pt idx="9">
                  <c:v>0.027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819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Prediction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Kumar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  |  Saiket Systems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– April 2026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  |  6 Tasks  |  3 ML Models  | 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6 Tasks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pipeline for customer churn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241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2646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records, 16 encoded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67712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15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3774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77977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rate, patterns, visual insights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21024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68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7307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13308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by monthly charges &amp; behaviour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914400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0241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142646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26771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67712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151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23774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277977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2102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21024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684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37307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13308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+ 6 actionable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Data Loading &amp; Preprocessing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144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144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192024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91440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40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24028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236829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2368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Fix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27523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strings → NaN → converted to float using pd.to_numeric(errors='coerce'). 11 rows dropped.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240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240280"/>
            <a:ext cx="2697480" cy="64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368296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2368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27523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Yes/No columns encoded to 0/1. Target 'Churn' encoded. SeniorCitizen formatted.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2402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24028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1928" y="236829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2368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1928" y="275234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 features (Contract, InternetService, PaymentMethod) expanded using pd.get_dummies().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749040"/>
            <a:ext cx="269748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" y="3877056"/>
            <a:ext cx="292608" cy="29260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9768" y="426110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Tenure, MonthlyCharges, TotalCharges for model training.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37490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46120" y="3749040"/>
            <a:ext cx="2697480" cy="64008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55848" y="3877056"/>
            <a:ext cx="292608" cy="29260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0752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55848" y="426110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 split. random_state=42. Final shape: X_train (5,626), X_test (1,409).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37490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374904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81928" y="3877056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56832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Ready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81928" y="4261104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encoding and selection: 16 numeric features used for model training and evaluation.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Exploratory Data Analysis (EDA)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discovered from the Telco dataset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68680"/>
          <a:ext cx="402336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868680"/>
          <a:ext cx="41605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3090672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= 42% churn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9768" y="3602736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segment — 14x more than 2-year contract customers (3%)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6888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68880" y="3090672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78608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78608" y="3602736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via E-Check show significantly higher churn than other methods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1772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3090672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27448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&lt; 12 months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27448" y="3602736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(first year) represent highest churn risk group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76656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66560" y="3090672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76288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Tech/Online Support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76288" y="3602736"/>
            <a:ext cx="17190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add-on services are nearly 2x more likely to churn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Customer Segmentation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identified by MonthlyCharges behavior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20240" cy="2194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972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(₹0–35)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~1,560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6459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churn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20240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0972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(₹35–65)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~2,100 customers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423160"/>
            <a:ext cx="16459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1920240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0972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(₹65–95)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~1,980 customers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16459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risk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960120"/>
            <a:ext cx="1920240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0972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(₹95+)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~1,400 customers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2423160"/>
            <a:ext cx="164592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514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churn!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33756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374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Churners: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06040" y="337413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churned customers. Monthly revenue lost = $139,130.85 per month ($1.67M/year).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88620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8620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227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 Risk: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392277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₹95+/month despite high bills, still show highest churn — price sensitivity issue.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4348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4714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LTV: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06040" y="4471416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 avg lifetime value = $2,552.88. Total revenue at risk = $4.77 Million.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Churn Prediction 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models trained and compared on 80/20 split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69748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9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classification model. Scaled features used. max_iter=1000, random_state=42.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715768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798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31272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interpretable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probability calibration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14400"/>
            <a:ext cx="2697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969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508760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model. max_depth=6 to prevent overfitting. Gini criterion used.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55848" y="2715768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798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1272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explainable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threshold splits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91440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969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81928" y="1508760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(n_estimators=100). Bagging to reduce variance. random_state=42.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81928" y="2715768"/>
            <a:ext cx="2468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27980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1928" y="31272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strength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Model Evaluation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performance metrics from the trained models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9144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914400"/>
            <a:ext cx="2971800" cy="3200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914400"/>
            <a:ext cx="2971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0241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Accuracy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138988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89320" y="2176272"/>
            <a:ext cx="269748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5236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79.91%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89320" y="2560320"/>
            <a:ext cx="269748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596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523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64.26%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89320" y="2944368"/>
            <a:ext cx="269748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52360" y="2980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54.81%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89320" y="3328416"/>
            <a:ext cx="269748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523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59.16%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89320" y="3712464"/>
            <a:ext cx="2697480" cy="338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84.03%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297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Confusion Matrix:  Not Churned — Precision: 83%, Recall: 90%  |  Churned — Precision: 64%, Recall: 50%  |  Overall Accuracy: 79%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Random Forest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features driving customer churn (actual scores)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91440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91440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98464" y="978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TotalCharges (0.187)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98464" y="12801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predictor. High total billing correlates directly with churn intent.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87452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87452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98464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MonthlyCharges (0.179)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98464" y="22402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 amount — high charges push customers toward cancellation.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283464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83464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8464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Tenure (0.154)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98464" y="32004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customer relationship = higher churn probability.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3794760"/>
            <a:ext cx="2971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52160" y="379476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98464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Contract Type (0.080)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98464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are 14x more likely to churn than 2-year.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663440"/>
            <a:ext cx="297180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07024" y="46908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Top 3: TotalCharges, MonthlyCharges, Tenure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cost of customer churn — from actual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20240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1920240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6012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$139K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20240" cy="1280160"/>
          </a:xfrm>
          <a:prstGeom prst="rect">
            <a:avLst/>
          </a:prstGeom>
          <a:solidFill>
            <a:srgbClr val="7F1D1D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6012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960120"/>
            <a:ext cx="1920240" cy="1280160"/>
          </a:xfrm>
          <a:prstGeom prst="rect">
            <a:avLst/>
          </a:prstGeom>
          <a:solidFill>
            <a:srgbClr val="7F1D1D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96012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$4.77M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at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423160"/>
            <a:ext cx="850392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420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Retained Customer Lifetime Value: $2,552.88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63240"/>
            <a:ext cx="402336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37560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" y="311810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Month-to-Month Customers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" y="345643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15-20% discount to switch to annual/2-year contracts. Highest ROI retention strategy.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0632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063240"/>
            <a:ext cx="402336" cy="8686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337560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39896" y="311810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Onboarding Program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39896" y="345643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dedicated support to new customers. Personal check-ins in first 6 months reduce churn.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30632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3063240"/>
            <a:ext cx="402336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337560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65976" y="311810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Intervention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65976" y="3456432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contact customers paying &gt;$70/month with personalized price-match offers.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050792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4050792"/>
            <a:ext cx="402336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32511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3816" y="410565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Add-on Services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" y="444398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3-month tech support trials to customers without add-ons — data shows this reduces churn.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4050792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4050792"/>
            <a:ext cx="402336" cy="8686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432511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39896" y="410565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39896" y="444398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long-tenure customers with bill credits and free upgrades to prevent competitive switching.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4050792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72200" y="4050792"/>
            <a:ext cx="402336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4325112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665976" y="4105656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in Production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65976" y="4443984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prediction monthly. Flag high-risk customers. Sales follows up with retention offers.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 stack from the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1920240" cy="50292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1600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05840"/>
            <a:ext cx="1920240" cy="502920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600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20240" cy="502920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69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16002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34640"/>
            <a:ext cx="1920240" cy="502920"/>
          </a:xfrm>
          <a:prstGeom prst="rect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28346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2834640"/>
            <a:ext cx="1920240" cy="502920"/>
          </a:xfrm>
          <a:prstGeom prst="rect">
            <a:avLst/>
          </a:prstGeom>
          <a:solidFill>
            <a:srgbClr val="F89939"/>
          </a:solidFill>
          <a:ln w="12700">
            <a:solidFill>
              <a:srgbClr val="F899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evaluation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8346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834640"/>
            <a:ext cx="1920240" cy="502920"/>
          </a:xfrm>
          <a:prstGeom prst="rect">
            <a:avLst/>
          </a:prstGeom>
          <a:solidFill>
            <a:srgbClr val="F37626"/>
          </a:solidFill>
          <a:ln w="12700">
            <a:solidFill>
              <a:srgbClr val="F37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28346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2834640"/>
            <a:ext cx="1920240" cy="502920"/>
          </a:xfrm>
          <a:prstGeom prst="rect">
            <a:avLst/>
          </a:prstGeom>
          <a:solidFill>
            <a:srgbClr val="171515"/>
          </a:solidFill>
          <a:ln w="12700">
            <a:solidFill>
              <a:srgbClr val="1715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34290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331720"/>
            <a:ext cx="457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514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Kumar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 — Saiket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&amp; Prediction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4023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– April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#SaiketSystems  #SaiketTech  #SaiketInternship  #DataScience  #MachineLearning  #Python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— Saiket Systems</dc:title>
  <dc:subject>PptxGenJS Presentation</dc:subject>
  <dc:creator>Sonu Kumar</dc:creator>
  <cp:lastModifiedBy>Sonu Kumar</cp:lastModifiedBy>
  <cp:revision>1</cp:revision>
  <dcterms:created xsi:type="dcterms:W3CDTF">2026-04-13T06:02:55Z</dcterms:created>
  <dcterms:modified xsi:type="dcterms:W3CDTF">2026-04-13T06:02:55Z</dcterms:modified>
</cp:coreProperties>
</file>